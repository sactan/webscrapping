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59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225037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686800" y="731520"/>
            <a:ext cx="4572000" cy="4572000"/>
          </a:xfrm>
          <a:prstGeom prst="ellipse">
            <a:avLst/>
          </a:prstGeom>
          <a:solidFill>
            <a:srgbClr val="38BDF8">
              <a:alpha val="10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326880" y="1371600"/>
            <a:ext cx="3200400" cy="3200400"/>
          </a:xfrm>
          <a:prstGeom prst="ellipse">
            <a:avLst/>
          </a:prstGeom>
          <a:solidFill>
            <a:srgbClr val="818CF8">
              <a:alpha val="15000"/>
            </a:srgbClr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37160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CaseDelta Flow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640080" y="2468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· HTML Capture · JSON File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40080" y="320040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flow-based reference diagram showing how delta state,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capture strategy, and JSON output vary by page scenario.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0" y="6675120"/>
            <a:ext cx="12161520" cy="18288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64922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Cases  ·  2 Dimensions  ·  Full Capture Strategy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371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Flow: Page &amp; Delta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166360" y="822960"/>
            <a:ext cx="1828800" cy="457200"/>
          </a:xfrm>
          <a:prstGeom prst="rect">
            <a:avLst/>
          </a:prstGeom>
          <a:solidFill>
            <a:srgbClr val="38BDF8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166360" y="822960"/>
            <a:ext cx="182880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080760" y="1280160"/>
            <a:ext cx="0" cy="411480"/>
          </a:xfrm>
          <a:prstGeom prst="line">
            <a:avLst/>
          </a:prstGeom>
          <a:noFill/>
          <a:ln w="19050">
            <a:solidFill>
              <a:srgbClr val="38BDF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709160" y="1691640"/>
            <a:ext cx="2743200" cy="640080"/>
          </a:xfrm>
          <a:prstGeom prst="rect">
            <a:avLst/>
          </a:prstGeom>
          <a:solidFill>
            <a:srgbClr val="1D4ED8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09160" y="1691640"/>
            <a:ext cx="274320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Page?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09160" y="2011680"/>
            <a:ext cx="0" cy="0"/>
          </a:xfrm>
          <a:prstGeom prst="line">
            <a:avLst/>
          </a:prstGeom>
          <a:noFill/>
          <a:ln w="19050">
            <a:solidFill>
              <a:srgbClr val="34D39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66160" y="17373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7452360" y="2011680"/>
            <a:ext cx="1783080" cy="0"/>
          </a:xfrm>
          <a:prstGeom prst="line">
            <a:avLst/>
          </a:prstGeom>
          <a:noFill/>
          <a:ln w="19050">
            <a:solidFill>
              <a:srgbClr val="F8717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680960" y="17373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1645920" y="1691640"/>
            <a:ext cx="2743200" cy="640080"/>
          </a:xfrm>
          <a:prstGeom prst="rect">
            <a:avLst/>
          </a:prstGeom>
          <a:solidFill>
            <a:srgbClr val="1D4ED8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45920" y="1691640"/>
            <a:ext cx="274320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Delta?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103120" y="2331720"/>
            <a:ext cx="0" cy="502920"/>
          </a:xfrm>
          <a:prstGeom prst="line">
            <a:avLst/>
          </a:prstGeom>
          <a:noFill/>
          <a:ln w="19050">
            <a:solidFill>
              <a:srgbClr val="34D39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148840" y="237744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389120" y="2011680"/>
            <a:ext cx="0" cy="822960"/>
          </a:xfrm>
          <a:prstGeom prst="line">
            <a:avLst/>
          </a:prstGeom>
          <a:noFill/>
          <a:ln w="19050">
            <a:solidFill>
              <a:srgbClr val="F8717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434840" y="237744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8686800" y="1691640"/>
            <a:ext cx="2743200" cy="640080"/>
          </a:xfrm>
          <a:prstGeom prst="rect">
            <a:avLst/>
          </a:prstGeom>
          <a:solidFill>
            <a:srgbClr val="1D4ED8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686800" y="1691640"/>
            <a:ext cx="274320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Delta?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10058400" y="2331720"/>
            <a:ext cx="0" cy="502920"/>
          </a:xfrm>
          <a:prstGeom prst="line">
            <a:avLst/>
          </a:prstGeom>
          <a:noFill/>
          <a:ln w="19050">
            <a:solidFill>
              <a:srgbClr val="34D39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104120" y="237744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8686800" y="2011680"/>
            <a:ext cx="0" cy="822960"/>
          </a:xfrm>
          <a:prstGeom prst="line">
            <a:avLst/>
          </a:prstGeom>
          <a:noFill/>
          <a:ln w="19050">
            <a:solidFill>
              <a:srgbClr val="F8717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732520" y="237744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474720" y="2834640"/>
            <a:ext cx="2286000" cy="502920"/>
          </a:xfrm>
          <a:prstGeom prst="rect">
            <a:avLst/>
          </a:prstGeom>
          <a:solidFill>
            <a:srgbClr val="0C4A6E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74720" y="2834640"/>
            <a:ext cx="228600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1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Page · No Delta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822960" y="2834640"/>
            <a:ext cx="2286000" cy="502920"/>
          </a:xfrm>
          <a:prstGeom prst="rect">
            <a:avLst/>
          </a:prstGeom>
          <a:solidFill>
            <a:srgbClr val="0C4A6E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2960" y="2834640"/>
            <a:ext cx="228600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2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Page · With Delta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7498080" y="2834640"/>
            <a:ext cx="2286000" cy="502920"/>
          </a:xfrm>
          <a:prstGeom prst="rect">
            <a:avLst/>
          </a:prstGeom>
          <a:solidFill>
            <a:srgbClr val="0C4A6E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498080" y="2834640"/>
            <a:ext cx="228600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3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 Page · No Delta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9875520" y="2834640"/>
            <a:ext cx="2286000" cy="502920"/>
          </a:xfrm>
          <a:prstGeom prst="rect">
            <a:avLst/>
          </a:prstGeom>
          <a:solidFill>
            <a:srgbClr val="0C4A6E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875520" y="2834640"/>
            <a:ext cx="228600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4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 Page · With Delta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617720" y="3337560"/>
            <a:ext cx="0" cy="32004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965960" y="3337560"/>
            <a:ext cx="0" cy="32004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641080" y="3337560"/>
            <a:ext cx="0" cy="32004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1018520" y="3337560"/>
            <a:ext cx="0" cy="32004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246120" y="3657600"/>
            <a:ext cx="2697480" cy="2926080"/>
          </a:xfrm>
          <a:prstGeom prst="rect">
            <a:avLst/>
          </a:prstGeom>
          <a:solidFill>
            <a:srgbClr val="1E293B"/>
          </a:solidFill>
          <a:ln w="19050">
            <a:solidFill>
              <a:srgbClr val="F87171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246120" y="3657600"/>
            <a:ext cx="64008" cy="292608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383280" y="3767328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DELTA STATE: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3383280" y="3950208"/>
            <a:ext cx="2514600" cy="697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3383280" y="4666488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CAPTURE: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3383280" y="4849368"/>
            <a:ext cx="2514600" cy="697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Captured with page name (final state only)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3383280" y="5565648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FILE: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3383280" y="5748528"/>
            <a:ext cx="2514600" cy="697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Page JSON with final state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182880" y="3657600"/>
            <a:ext cx="2697480" cy="2926080"/>
          </a:xfrm>
          <a:prstGeom prst="rect">
            <a:avLst/>
          </a:prstGeom>
          <a:solidFill>
            <a:srgbClr val="1E293B"/>
          </a:solidFill>
          <a:ln w="19050">
            <a:solidFill>
              <a:srgbClr val="34D399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82880" y="3657600"/>
            <a:ext cx="64008" cy="292608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20040" y="3767328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DELTA STATE:</a:t>
            </a:r>
            <a:endParaRPr lang="en-US" sz="750" dirty="0"/>
          </a:p>
        </p:txBody>
      </p:sp>
      <p:sp>
        <p:nvSpPr>
          <p:cNvPr id="48" name="Text 46"/>
          <p:cNvSpPr/>
          <p:nvPr/>
        </p:nvSpPr>
        <p:spPr>
          <a:xfrm>
            <a:off x="320040" y="3950208"/>
            <a:ext cx="2514600" cy="697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state1…n, final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320040" y="4666488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CAPTURE:</a:t>
            </a:r>
            <a:endParaRPr lang="en-US" sz="750" dirty="0"/>
          </a:p>
        </p:txBody>
      </p:sp>
      <p:sp>
        <p:nvSpPr>
          <p:cNvPr id="50" name="Text 48"/>
          <p:cNvSpPr/>
          <p:nvPr/>
        </p:nvSpPr>
        <p:spPr>
          <a:xfrm>
            <a:off x="320040" y="4849368"/>
            <a:ext cx="2514600" cy="697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Captured with page name (all delta states + final)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320040" y="5565648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FILE:</a:t>
            </a:r>
            <a:endParaRPr lang="en-US" sz="750" dirty="0"/>
          </a:p>
        </p:txBody>
      </p:sp>
      <p:sp>
        <p:nvSpPr>
          <p:cNvPr id="52" name="Text 50"/>
          <p:cNvSpPr/>
          <p:nvPr/>
        </p:nvSpPr>
        <p:spPr>
          <a:xfrm>
            <a:off x="320040" y="5748528"/>
            <a:ext cx="2514600" cy="697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Page JSON with state1…n and final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7223760" y="3657600"/>
            <a:ext cx="2697480" cy="2926080"/>
          </a:xfrm>
          <a:prstGeom prst="rect">
            <a:avLst/>
          </a:prstGeom>
          <a:solidFill>
            <a:srgbClr val="1E293B"/>
          </a:solidFill>
          <a:ln w="19050">
            <a:solidFill>
              <a:srgbClr val="FBBF24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223760" y="3657600"/>
            <a:ext cx="64008" cy="292608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360920" y="3767328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DELTA STATE:</a:t>
            </a:r>
            <a:endParaRPr lang="en-US" sz="750" dirty="0"/>
          </a:p>
        </p:txBody>
      </p:sp>
      <p:sp>
        <p:nvSpPr>
          <p:cNvPr id="56" name="Text 54"/>
          <p:cNvSpPr/>
          <p:nvPr/>
        </p:nvSpPr>
        <p:spPr>
          <a:xfrm>
            <a:off x="7360920" y="3950208"/>
            <a:ext cx="2514600" cy="697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7360920" y="4666488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CAPTURE:</a:t>
            </a:r>
            <a:endParaRPr lang="en-US" sz="750" dirty="0"/>
          </a:p>
        </p:txBody>
      </p:sp>
      <p:sp>
        <p:nvSpPr>
          <p:cNvPr id="58" name="Text 56"/>
          <p:cNvSpPr/>
          <p:nvPr/>
        </p:nvSpPr>
        <p:spPr>
          <a:xfrm>
            <a:off x="7360920" y="4849368"/>
            <a:ext cx="2514600" cy="697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pages captured as multiple HTMLs in one file</a:t>
            </a:r>
            <a:endParaRPr lang="en-US" sz="850" dirty="0"/>
          </a:p>
        </p:txBody>
      </p:sp>
      <p:sp>
        <p:nvSpPr>
          <p:cNvPr id="59" name="Text 57"/>
          <p:cNvSpPr/>
          <p:nvPr/>
        </p:nvSpPr>
        <p:spPr>
          <a:xfrm>
            <a:off x="7360920" y="5565648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FILE:</a:t>
            </a:r>
            <a:endParaRPr lang="en-US" sz="750" dirty="0"/>
          </a:p>
        </p:txBody>
      </p:sp>
      <p:sp>
        <p:nvSpPr>
          <p:cNvPr id="60" name="Text 58"/>
          <p:cNvSpPr/>
          <p:nvPr/>
        </p:nvSpPr>
        <p:spPr>
          <a:xfrm>
            <a:off x="7360920" y="5748528"/>
            <a:ext cx="2514600" cy="697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Pagewise JSON array created (no delta)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9646920" y="3657600"/>
            <a:ext cx="2377440" cy="2926080"/>
          </a:xfrm>
          <a:prstGeom prst="rect">
            <a:avLst/>
          </a:prstGeom>
          <a:solidFill>
            <a:srgbClr val="1E293B"/>
          </a:solidFill>
          <a:ln w="19050">
            <a:solidFill>
              <a:srgbClr val="818CF8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9646920" y="3657600"/>
            <a:ext cx="64008" cy="2926080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9784080" y="3767328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DELTA STATE:</a:t>
            </a:r>
            <a:endParaRPr lang="en-US" sz="750" dirty="0"/>
          </a:p>
        </p:txBody>
      </p:sp>
      <p:sp>
        <p:nvSpPr>
          <p:cNvPr id="64" name="Text 62"/>
          <p:cNvSpPr/>
          <p:nvPr/>
        </p:nvSpPr>
        <p:spPr>
          <a:xfrm>
            <a:off x="9784080" y="3950208"/>
            <a:ext cx="2194560" cy="697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page, delta mapped to respective page</a:t>
            </a:r>
            <a:endParaRPr lang="en-US" sz="850" dirty="0"/>
          </a:p>
        </p:txBody>
      </p:sp>
      <p:sp>
        <p:nvSpPr>
          <p:cNvPr id="65" name="Text 63"/>
          <p:cNvSpPr/>
          <p:nvPr/>
        </p:nvSpPr>
        <p:spPr>
          <a:xfrm>
            <a:off x="9784080" y="4666488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CAPTURE:</a:t>
            </a:r>
            <a:endParaRPr lang="en-US" sz="750" dirty="0"/>
          </a:p>
        </p:txBody>
      </p:sp>
      <p:sp>
        <p:nvSpPr>
          <p:cNvPr id="66" name="Text 64"/>
          <p:cNvSpPr/>
          <p:nvPr/>
        </p:nvSpPr>
        <p:spPr>
          <a:xfrm>
            <a:off x="9784080" y="4849368"/>
            <a:ext cx="2194560" cy="697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pages + delta captured in single HTML file (pagewise)</a:t>
            </a:r>
            <a:endParaRPr lang="en-US" sz="850" dirty="0"/>
          </a:p>
        </p:txBody>
      </p:sp>
      <p:sp>
        <p:nvSpPr>
          <p:cNvPr id="67" name="Text 65"/>
          <p:cNvSpPr/>
          <p:nvPr/>
        </p:nvSpPr>
        <p:spPr>
          <a:xfrm>
            <a:off x="9784080" y="5565648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FILE:</a:t>
            </a:r>
            <a:endParaRPr lang="en-US" sz="750" dirty="0"/>
          </a:p>
        </p:txBody>
      </p:sp>
      <p:sp>
        <p:nvSpPr>
          <p:cNvPr id="68" name="Text 66"/>
          <p:cNvSpPr/>
          <p:nvPr/>
        </p:nvSpPr>
        <p:spPr>
          <a:xfrm>
            <a:off x="9784080" y="5748528"/>
            <a:ext cx="2194560" cy="697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Pagewise JSON array; delta updated per respective page</a:t>
            </a:r>
            <a:endParaRPr lang="en-US" sz="850" dirty="0"/>
          </a:p>
        </p:txBody>
      </p:sp>
      <p:sp>
        <p:nvSpPr>
          <p:cNvPr id="69" name="Shape 67"/>
          <p:cNvSpPr/>
          <p:nvPr/>
        </p:nvSpPr>
        <p:spPr>
          <a:xfrm>
            <a:off x="0" y="6675120"/>
            <a:ext cx="12161520" cy="18288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457200" y="64922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🟦 Delta State    🟩 HTML Capture Strategy    🟨 JSON File Output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6459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Summary: All 4 Cases at a Glance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82880" y="841248"/>
            <a:ext cx="2103120" cy="457200"/>
          </a:xfrm>
          <a:prstGeom prst="rect">
            <a:avLst/>
          </a:prstGeom>
          <a:solidFill>
            <a:srgbClr val="1E3A5F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2880" y="841248"/>
            <a:ext cx="210312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0" y="841248"/>
            <a:ext cx="2194560" cy="457200"/>
          </a:xfrm>
          <a:prstGeom prst="rect">
            <a:avLst/>
          </a:prstGeom>
          <a:solidFill>
            <a:srgbClr val="1E3A5F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0" y="841248"/>
            <a:ext cx="219456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Delta State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480560" y="841248"/>
            <a:ext cx="3840480" cy="457200"/>
          </a:xfrm>
          <a:prstGeom prst="rect">
            <a:avLst/>
          </a:prstGeom>
          <a:solidFill>
            <a:srgbClr val="1E3A5F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80560" y="841248"/>
            <a:ext cx="384048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Capture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321040" y="841248"/>
            <a:ext cx="3657600" cy="457200"/>
          </a:xfrm>
          <a:prstGeom prst="rect">
            <a:avLst/>
          </a:prstGeom>
          <a:solidFill>
            <a:srgbClr val="1E3A5F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321040" y="841248"/>
            <a:ext cx="365760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Output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82880" y="1298448"/>
            <a:ext cx="2103120" cy="1280160"/>
          </a:xfrm>
          <a:prstGeom prst="rect">
            <a:avLst/>
          </a:prstGeom>
          <a:solidFill>
            <a:srgbClr val="162032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82880" y="1298448"/>
            <a:ext cx="54864" cy="128016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92608" y="1298448"/>
            <a:ext cx="1938528" cy="12801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Page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Delta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286000" y="1298448"/>
            <a:ext cx="2194560" cy="12801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359152" y="1298448"/>
            <a:ext cx="2084832" cy="12801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480560" y="1298448"/>
            <a:ext cx="3840480" cy="12801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53712" y="1298448"/>
            <a:ext cx="3730752" cy="12801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HTML with page name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321040" y="1298448"/>
            <a:ext cx="3657600" cy="12801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394192" y="1298448"/>
            <a:ext cx="3547872" cy="12801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Page JSON — final state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2880" y="2578608"/>
            <a:ext cx="2103120" cy="1280160"/>
          </a:xfrm>
          <a:prstGeom prst="rect">
            <a:avLst/>
          </a:prstGeom>
          <a:solidFill>
            <a:srgbClr val="162032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82880" y="2578608"/>
            <a:ext cx="54864" cy="128016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92608" y="2578608"/>
            <a:ext cx="1938528" cy="12801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Page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Delta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286000" y="2578608"/>
            <a:ext cx="2194560" cy="12801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359152" y="2578608"/>
            <a:ext cx="2084832" cy="12801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state1…n, final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480560" y="2578608"/>
            <a:ext cx="3840480" cy="12801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53712" y="2578608"/>
            <a:ext cx="3730752" cy="12801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HTML with page name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(includes all delta states + final)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8321040" y="2578608"/>
            <a:ext cx="3657600" cy="12801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394192" y="2578608"/>
            <a:ext cx="3547872" cy="12801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Page JSON — state1…n + final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182880" y="3858768"/>
            <a:ext cx="2103120" cy="1280160"/>
          </a:xfrm>
          <a:prstGeom prst="rect">
            <a:avLst/>
          </a:prstGeom>
          <a:solidFill>
            <a:srgbClr val="162032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82880" y="3858768"/>
            <a:ext cx="54864" cy="128016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92608" y="3858768"/>
            <a:ext cx="1938528" cy="12801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Pages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Delta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2286000" y="3858768"/>
            <a:ext cx="2194560" cy="12801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359152" y="3858768"/>
            <a:ext cx="2084832" cy="12801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480560" y="3858768"/>
            <a:ext cx="3840480" cy="12801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53712" y="3858768"/>
            <a:ext cx="3730752" cy="12801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HTMLs captured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single file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8321040" y="3858768"/>
            <a:ext cx="3657600" cy="12801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394192" y="3858768"/>
            <a:ext cx="3547872" cy="12801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Pagewise JSON array created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182880" y="5138928"/>
            <a:ext cx="2103120" cy="1280160"/>
          </a:xfrm>
          <a:prstGeom prst="rect">
            <a:avLst/>
          </a:prstGeom>
          <a:solidFill>
            <a:srgbClr val="162032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82880" y="5138928"/>
            <a:ext cx="54864" cy="1280160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92608" y="5138928"/>
            <a:ext cx="1938528" cy="12801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Pages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Delta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2286000" y="5138928"/>
            <a:ext cx="2194560" cy="12801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359152" y="5138928"/>
            <a:ext cx="2084832" cy="12801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page; delta mapped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respective page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480560" y="5138928"/>
            <a:ext cx="3840480" cy="12801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553712" y="5138928"/>
            <a:ext cx="3730752" cy="12801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pages + delta per page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single HTML file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8321040" y="5138928"/>
            <a:ext cx="3657600" cy="12801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394192" y="5138928"/>
            <a:ext cx="3547872" cy="12801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Pagewise JSON array;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delta updated per page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0" y="6675120"/>
            <a:ext cx="12161520" cy="18288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28016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Capture Utility — How It Works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9235440" y="146304"/>
            <a:ext cx="2743200" cy="384048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235440" y="146304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· Java · Playwright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28600" y="804672"/>
            <a:ext cx="2011680" cy="914400"/>
          </a:xfrm>
          <a:prstGeom prst="rect">
            <a:avLst/>
          </a:prstGeom>
          <a:solidFill>
            <a:srgbClr val="0891B2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841248"/>
            <a:ext cx="2011680" cy="47548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Launch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28600" y="1316736"/>
            <a:ext cx="201168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Chromium via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Playwright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258568" y="1261872"/>
            <a:ext cx="219456" cy="0"/>
          </a:xfrm>
          <a:prstGeom prst="line">
            <a:avLst/>
          </a:prstGeom>
          <a:noFill/>
          <a:ln w="25400">
            <a:solidFill>
              <a:srgbClr val="47556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331720" y="1152144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</a:rPr>
              <a:t>▶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496312" y="804672"/>
            <a:ext cx="2011680" cy="914400"/>
          </a:xfrm>
          <a:prstGeom prst="rect">
            <a:avLst/>
          </a:prstGeom>
          <a:solidFill>
            <a:srgbClr val="0D9488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96312" y="841248"/>
            <a:ext cx="2011680" cy="47548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Navigate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URL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496312" y="1316736"/>
            <a:ext cx="201168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or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526280" y="1261872"/>
            <a:ext cx="219456" cy="0"/>
          </a:xfrm>
          <a:prstGeom prst="line">
            <a:avLst/>
          </a:prstGeom>
          <a:noFill/>
          <a:ln w="25400">
            <a:solidFill>
              <a:srgbClr val="47556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99432" y="1152144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</a:rPr>
              <a:t>▶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764024" y="804672"/>
            <a:ext cx="2011680" cy="914400"/>
          </a:xfrm>
          <a:prstGeom prst="rect">
            <a:avLst/>
          </a:prstGeom>
          <a:solidFill>
            <a:srgbClr val="7C3AED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64024" y="841248"/>
            <a:ext cx="2011680" cy="47548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Capture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764024" y="1316736"/>
            <a:ext cx="201168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/ DOM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Mutation / Manual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6793992" y="1261872"/>
            <a:ext cx="219456" cy="0"/>
          </a:xfrm>
          <a:prstGeom prst="line">
            <a:avLst/>
          </a:prstGeom>
          <a:noFill/>
          <a:ln w="25400">
            <a:solidFill>
              <a:srgbClr val="47556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67144" y="1152144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</a:rPr>
              <a:t>▶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7031736" y="804672"/>
            <a:ext cx="2011680" cy="914400"/>
          </a:xfrm>
          <a:prstGeom prst="rect">
            <a:avLst/>
          </a:prstGeom>
          <a:solidFill>
            <a:srgbClr val="B45309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031736" y="841248"/>
            <a:ext cx="2011680" cy="47548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HTML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031736" y="1316736"/>
            <a:ext cx="201168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PageTitle_TabName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.html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9061704" y="1261872"/>
            <a:ext cx="219456" cy="0"/>
          </a:xfrm>
          <a:prstGeom prst="line">
            <a:avLst/>
          </a:prstGeom>
          <a:noFill/>
          <a:ln w="25400">
            <a:solidFill>
              <a:srgbClr val="47556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34856" y="1152144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</a:rPr>
              <a:t>▶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9299448" y="804672"/>
            <a:ext cx="2011680" cy="914400"/>
          </a:xfrm>
          <a:prstGeom prst="rect">
            <a:avLst/>
          </a:prstGeom>
          <a:solidFill>
            <a:srgbClr val="047857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299448" y="841248"/>
            <a:ext cx="2011680" cy="47548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JSON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9299448" y="1316736"/>
            <a:ext cx="201168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Pagewise array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single-page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228600" y="19019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TRIGGERS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228600" y="2212848"/>
            <a:ext cx="2834640" cy="12344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28600" y="2212848"/>
            <a:ext cx="2834640" cy="54864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38328" y="2286000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🔁  Auto Capture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338328" y="2615184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page load, URL change,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back/forward navigation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200400" y="2212848"/>
            <a:ext cx="2834640" cy="12344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200400" y="2212848"/>
            <a:ext cx="2834640" cy="54864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310128" y="2286000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🧬  DOM Mutation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3310128" y="2615184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MutationObserver watches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 / React / Angular pages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6172200" y="2212848"/>
            <a:ext cx="2834640" cy="12344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172200" y="2212848"/>
            <a:ext cx="2834640" cy="54864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281928" y="2286000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📸  Manual Button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281928" y="2615184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Floating button injected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every page (top-right)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9144000" y="2212848"/>
            <a:ext cx="2834640" cy="12344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9144000" y="2212848"/>
            <a:ext cx="2834640" cy="54864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9253728" y="2286000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🗂️  Tab Switch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9253728" y="2615184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tab state captured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separately (same URL ok)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228600" y="3566160"/>
            <a:ext cx="5669280" cy="1371600"/>
          </a:xfrm>
          <a:prstGeom prst="rect">
            <a:avLst/>
          </a:prstGeom>
          <a:solidFill>
            <a:srgbClr val="1A1F35"/>
          </a:solidFill>
          <a:ln w="19050">
            <a:solidFill>
              <a:srgbClr val="818CF8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228600" y="3566160"/>
            <a:ext cx="64008" cy="1371600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11480" y="3621024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 Deduplication &amp; File Naming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411480" y="3931920"/>
            <a:ext cx="5303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MD5 hash check + cooldown timer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Auto: PageTitle_TabName.html  (e.g. Dashboard_Overview.html)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Force/Manual: PageTitle_TabName_&lt;timestamp&gt;.html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6126480" y="3566160"/>
            <a:ext cx="5806440" cy="1371600"/>
          </a:xfrm>
          <a:prstGeom prst="rect">
            <a:avLst/>
          </a:prstGeom>
          <a:solidFill>
            <a:srgbClr val="1A1F35"/>
          </a:solidFill>
          <a:ln w="19050">
            <a:solidFill>
              <a:srgbClr val="34D399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126480" y="3566160"/>
            <a:ext cx="64008" cy="137160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309360" y="3621024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Setup &amp; Integration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6309360" y="393192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6309360" y="4133088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npm install playwright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src/capture.js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9006840" y="3895344"/>
            <a:ext cx="0" cy="100584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9144000" y="393192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(Maven / Gradle)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9144000" y="4133088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Playwright Maven dep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HtmlCaptureService.java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228600" y="507492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228600" y="5376672"/>
            <a:ext cx="2834640" cy="1097280"/>
          </a:xfrm>
          <a:prstGeom prst="rect">
            <a:avLst/>
          </a:prstGeom>
          <a:solidFill>
            <a:srgbClr val="1E293B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228600" y="5376672"/>
            <a:ext cx="2834640" cy="36576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320040" y="5431536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Files</a:t>
            </a:r>
            <a:endParaRPr lang="en-US" sz="950" dirty="0"/>
          </a:p>
        </p:txBody>
      </p:sp>
      <p:sp>
        <p:nvSpPr>
          <p:cNvPr id="62" name="Text 60"/>
          <p:cNvSpPr/>
          <p:nvPr/>
        </p:nvSpPr>
        <p:spPr>
          <a:xfrm>
            <a:off x="320040" y="5705856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src/resources/html-pages/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PageTitle_TabName.html</a:t>
            </a:r>
            <a:endParaRPr lang="en-US" sz="850" dirty="0"/>
          </a:p>
        </p:txBody>
      </p:sp>
      <p:sp>
        <p:nvSpPr>
          <p:cNvPr id="63" name="Shape 61"/>
          <p:cNvSpPr/>
          <p:nvPr/>
        </p:nvSpPr>
        <p:spPr>
          <a:xfrm>
            <a:off x="3200400" y="5376672"/>
            <a:ext cx="2834640" cy="1097280"/>
          </a:xfrm>
          <a:prstGeom prst="rect">
            <a:avLst/>
          </a:prstGeom>
          <a:solidFill>
            <a:srgbClr val="1E293B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3200400" y="5376672"/>
            <a:ext cx="2834640" cy="36576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3291840" y="5431536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Deduplicated</a:t>
            </a:r>
            <a:endParaRPr lang="en-US" sz="950" dirty="0"/>
          </a:p>
        </p:txBody>
      </p:sp>
      <p:sp>
        <p:nvSpPr>
          <p:cNvPr id="66" name="Text 64"/>
          <p:cNvSpPr/>
          <p:nvPr/>
        </p:nvSpPr>
        <p:spPr>
          <a:xfrm>
            <a:off x="3291840" y="5705856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MD5 hash prevents duplicate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within cooldown window</a:t>
            </a:r>
            <a:endParaRPr lang="en-US" sz="850" dirty="0"/>
          </a:p>
        </p:txBody>
      </p:sp>
      <p:sp>
        <p:nvSpPr>
          <p:cNvPr id="67" name="Shape 65"/>
          <p:cNvSpPr/>
          <p:nvPr/>
        </p:nvSpPr>
        <p:spPr>
          <a:xfrm>
            <a:off x="6172200" y="5376672"/>
            <a:ext cx="2834640" cy="1097280"/>
          </a:xfrm>
          <a:prstGeom prst="rect">
            <a:avLst/>
          </a:prstGeom>
          <a:solidFill>
            <a:srgbClr val="1E293B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6172200" y="5376672"/>
            <a:ext cx="2834640" cy="36576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6263640" y="5431536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Processed</a:t>
            </a:r>
            <a:endParaRPr lang="en-US" sz="950" dirty="0"/>
          </a:p>
        </p:txBody>
      </p:sp>
      <p:sp>
        <p:nvSpPr>
          <p:cNvPr id="70" name="Text 68"/>
          <p:cNvSpPr/>
          <p:nvPr/>
        </p:nvSpPr>
        <p:spPr>
          <a:xfrm>
            <a:off x="6263640" y="5705856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Pagewise array or single-page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depending on case type</a:t>
            </a:r>
            <a:endParaRPr lang="en-US" sz="850" dirty="0"/>
          </a:p>
        </p:txBody>
      </p:sp>
      <p:sp>
        <p:nvSpPr>
          <p:cNvPr id="71" name="Shape 69"/>
          <p:cNvSpPr/>
          <p:nvPr/>
        </p:nvSpPr>
        <p:spPr>
          <a:xfrm>
            <a:off x="9144000" y="5376672"/>
            <a:ext cx="2834640" cy="1097280"/>
          </a:xfrm>
          <a:prstGeom prst="rect">
            <a:avLst/>
          </a:prstGeom>
          <a:solidFill>
            <a:srgbClr val="1E293B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9144000" y="5376672"/>
            <a:ext cx="2834640" cy="36576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9235440" y="5431536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 Config</a:t>
            </a:r>
            <a:endParaRPr lang="en-US" sz="950" dirty="0"/>
          </a:p>
        </p:txBody>
      </p:sp>
      <p:sp>
        <p:nvSpPr>
          <p:cNvPr id="74" name="Text 72"/>
          <p:cNvSpPr/>
          <p:nvPr/>
        </p:nvSpPr>
        <p:spPr>
          <a:xfrm>
            <a:off x="9235440" y="5705856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HEADLESS=true/false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DOMAIN=example.com (filter)</a:t>
            </a:r>
            <a:endParaRPr lang="en-US" sz="850" dirty="0"/>
          </a:p>
        </p:txBody>
      </p:sp>
      <p:sp>
        <p:nvSpPr>
          <p:cNvPr id="75" name="Shape 73"/>
          <p:cNvSpPr/>
          <p:nvPr/>
        </p:nvSpPr>
        <p:spPr>
          <a:xfrm>
            <a:off x="0" y="6675120"/>
            <a:ext cx="12161520" cy="18288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457200" y="64922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Capture Utility  ·  Playwright-powered  ·  Auto + Manual Capture  ·  Dedup via MD5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18872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Capture + </a:t>
            </a:r>
            <a:r>
              <a:rPr lang="en-US" sz="21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DNA — End-to-End Flow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9601200" y="128016"/>
            <a:ext cx="2377440" cy="365760"/>
          </a:xfrm>
          <a:prstGeom prst="rect">
            <a:avLst/>
          </a:prstGeom>
          <a:solidFill>
            <a:srgbClr val="3B0764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0" y="128016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Capture Workflow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182880" y="804672"/>
            <a:ext cx="384048" cy="38404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880" y="8046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74904" y="1188720"/>
            <a:ext cx="0" cy="393192"/>
          </a:xfrm>
          <a:prstGeom prst="line">
            <a:avLst/>
          </a:prstGeom>
          <a:noFill/>
          <a:ln w="19050">
            <a:solidFill>
              <a:srgbClr val="0891B2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694944" y="713232"/>
            <a:ext cx="6080760" cy="804672"/>
          </a:xfrm>
          <a:prstGeom prst="rect">
            <a:avLst/>
          </a:prstGeom>
          <a:solidFill>
            <a:srgbClr val="1E293B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94944" y="713232"/>
            <a:ext cx="54864" cy="80467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731520"/>
            <a:ext cx="5879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Load Initialization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22960" y="1005840"/>
            <a:ext cx="58795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Floating popup UI auto-displayed on page load  ·  Popup: Dropdown (HTML file) + Auto-filled Page Title + 'Capture HTML + DNA' button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182880" y="1719072"/>
            <a:ext cx="384048" cy="38404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82880" y="17190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74904" y="2103120"/>
            <a:ext cx="0" cy="393192"/>
          </a:xfrm>
          <a:prstGeom prst="line">
            <a:avLst/>
          </a:prstGeom>
          <a:noFill/>
          <a:ln w="19050">
            <a:solidFill>
              <a:srgbClr val="7C3AED"/>
            </a:solidFill>
            <a:prstDash val="dash"/>
          </a:ln>
        </p:spPr>
      </p:sp>
      <p:sp>
        <p:nvSpPr>
          <p:cNvPr id="16" name="Shape 14"/>
          <p:cNvSpPr/>
          <p:nvPr/>
        </p:nvSpPr>
        <p:spPr>
          <a:xfrm>
            <a:off x="694944" y="1627632"/>
            <a:ext cx="6080760" cy="804672"/>
          </a:xfrm>
          <a:prstGeom prst="rect">
            <a:avLst/>
          </a:prstGeom>
          <a:solidFill>
            <a:srgbClr val="1E293B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94944" y="1627632"/>
            <a:ext cx="54864" cy="8046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1645920"/>
            <a:ext cx="5879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File Selection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22960" y="1920240"/>
            <a:ext cx="58795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Dropdown lists all captured HTML files from:  ·  html-capture-utility\src\resources\html-pages  ·  User selects file to map delta changes to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182880" y="2633472"/>
            <a:ext cx="384048" cy="38404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82880" y="2633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74904" y="3017520"/>
            <a:ext cx="0" cy="393192"/>
          </a:xfrm>
          <a:prstGeom prst="line">
            <a:avLst/>
          </a:prstGeom>
          <a:noFill/>
          <a:ln w="19050">
            <a:solidFill>
              <a:srgbClr val="0D9488"/>
            </a:solidFill>
            <a:prstDash val="dash"/>
          </a:ln>
        </p:spPr>
      </p:sp>
      <p:sp>
        <p:nvSpPr>
          <p:cNvPr id="23" name="Shape 21"/>
          <p:cNvSpPr/>
          <p:nvPr/>
        </p:nvSpPr>
        <p:spPr>
          <a:xfrm>
            <a:off x="694944" y="2542032"/>
            <a:ext cx="6080760" cy="804672"/>
          </a:xfrm>
          <a:prstGeom prst="rect">
            <a:avLst/>
          </a:prstGeom>
          <a:solidFill>
            <a:srgbClr val="1E293B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94944" y="2542032"/>
            <a:ext cx="54864" cy="8046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2960" y="2560320"/>
            <a:ext cx="5879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Delta Tracking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22960" y="2834640"/>
            <a:ext cx="58795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Continuously monitors DOM state changes  ·  Minor HTML changes: detected → captured as delta → mapped to selected file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182880" y="3547872"/>
            <a:ext cx="384048" cy="384048"/>
          </a:xfrm>
          <a:prstGeom prst="ellipse">
            <a:avLst/>
          </a:prstGeom>
          <a:solidFill>
            <a:srgbClr val="B45309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82880" y="35478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74904" y="3931920"/>
            <a:ext cx="0" cy="393192"/>
          </a:xfrm>
          <a:prstGeom prst="line">
            <a:avLst/>
          </a:prstGeom>
          <a:noFill/>
          <a:ln w="19050">
            <a:solidFill>
              <a:srgbClr val="B45309"/>
            </a:solidFill>
            <a:prstDash val="dash"/>
          </a:ln>
        </p:spPr>
      </p:sp>
      <p:sp>
        <p:nvSpPr>
          <p:cNvPr id="30" name="Shape 28"/>
          <p:cNvSpPr/>
          <p:nvPr/>
        </p:nvSpPr>
        <p:spPr>
          <a:xfrm>
            <a:off x="694944" y="3456432"/>
            <a:ext cx="6080760" cy="804672"/>
          </a:xfrm>
          <a:prstGeom prst="rect">
            <a:avLst/>
          </a:prstGeom>
          <a:solidFill>
            <a:srgbClr val="1E293B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94944" y="3456432"/>
            <a:ext cx="54864" cy="804672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22960" y="3474720"/>
            <a:ext cx="5879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Action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822960" y="3749040"/>
            <a:ext cx="58795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click 'Capture HTML + DNA':  ·  Latest HTML snapshot saved + Delta merged  ·  Generates: JSON file + CSV file (updated data)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182880" y="4462272"/>
            <a:ext cx="384048" cy="384048"/>
          </a:xfrm>
          <a:prstGeom prst="ellipse">
            <a:avLst/>
          </a:prstGeom>
          <a:solidFill>
            <a:srgbClr val="BE185D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82880" y="44622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374904" y="4846320"/>
            <a:ext cx="0" cy="393192"/>
          </a:xfrm>
          <a:prstGeom prst="line">
            <a:avLst/>
          </a:prstGeom>
          <a:noFill/>
          <a:ln w="19050">
            <a:solidFill>
              <a:srgbClr val="BE185D"/>
            </a:solidFill>
            <a:prstDash val="dash"/>
          </a:ln>
        </p:spPr>
      </p:sp>
      <p:sp>
        <p:nvSpPr>
          <p:cNvPr id="37" name="Shape 35"/>
          <p:cNvSpPr/>
          <p:nvPr/>
        </p:nvSpPr>
        <p:spPr>
          <a:xfrm>
            <a:off x="694944" y="4370832"/>
            <a:ext cx="6080760" cy="804672"/>
          </a:xfrm>
          <a:prstGeom prst="rect">
            <a:avLst/>
          </a:prstGeom>
          <a:solidFill>
            <a:srgbClr val="1E293B"/>
          </a:solidFill>
          <a:ln w="12700">
            <a:solidFill>
              <a:srgbClr val="BE185D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94944" y="4370832"/>
            <a:ext cx="54864" cy="804672"/>
          </a:xfrm>
          <a:prstGeom prst="rect">
            <a:avLst/>
          </a:prstGeom>
          <a:solidFill>
            <a:srgbClr val="BE185D"/>
          </a:solidFill>
          <a:ln w="12700">
            <a:solidFill>
              <a:srgbClr val="BE185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22960" y="4389120"/>
            <a:ext cx="5879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E18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Page Handling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822960" y="4663440"/>
            <a:ext cx="58795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page not previously captured:  ·  Identified as new entry automatically  ·  Title auto-populated → new HTML file created &amp; tracked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182880" y="5376672"/>
            <a:ext cx="384048" cy="384048"/>
          </a:xfrm>
          <a:prstGeom prst="ellipse">
            <a:avLst/>
          </a:prstGeom>
          <a:solidFill>
            <a:srgbClr val="047857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82880" y="53766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694944" y="5285232"/>
            <a:ext cx="6080760" cy="804672"/>
          </a:xfrm>
          <a:prstGeom prst="rect">
            <a:avLst/>
          </a:prstGeom>
          <a:solidFill>
            <a:srgbClr val="1E293B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94944" y="5285232"/>
            <a:ext cx="54864" cy="804672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22960" y="5303520"/>
            <a:ext cx="5879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Outcome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822960" y="5577840"/>
            <a:ext cx="58795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unified workflow: HTML Capture + DNA Generation + Delta Tracking  ·  Simplified UX + accurate data versioning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7086600" y="667512"/>
            <a:ext cx="4846320" cy="2240280"/>
          </a:xfrm>
          <a:prstGeom prst="rect">
            <a:avLst/>
          </a:prstGeom>
          <a:solidFill>
            <a:srgbClr val="0D1526"/>
          </a:solidFill>
          <a:ln w="19050">
            <a:solidFill>
              <a:srgbClr val="A855F7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7086600" y="667512"/>
            <a:ext cx="4846320" cy="347472"/>
          </a:xfrm>
          <a:prstGeom prst="rect">
            <a:avLst/>
          </a:prstGeom>
          <a:solidFill>
            <a:srgbClr val="3B0764"/>
          </a:solidFill>
          <a:ln w="12700">
            <a:solidFill>
              <a:srgbClr val="3B0764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196328" y="667512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Floating Popup UI  (auto-displayed on page load)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7223760" y="106984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HTML File: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7223760" y="1271016"/>
            <a:ext cx="4526280" cy="310896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315200" y="1271016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▾  Dashboard_Overview.html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7223760" y="164592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Title (auto-filled):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7223760" y="1828800"/>
            <a:ext cx="4526280" cy="310896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315200" y="1828800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7223760" y="2212848"/>
            <a:ext cx="4526280" cy="54864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223760" y="2212848"/>
            <a:ext cx="4526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📸  Capture HTML + DNA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7086600" y="2944368"/>
            <a:ext cx="4846320" cy="1234440"/>
          </a:xfrm>
          <a:prstGeom prst="rect">
            <a:avLst/>
          </a:prstGeom>
          <a:solidFill>
            <a:srgbClr val="1E293B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7086600" y="2944368"/>
            <a:ext cx="484632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196328" y="301752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 Continuous Delta Tracking (auto)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7223760" y="3328416"/>
            <a:ext cx="1005840" cy="50292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7223760" y="3328416"/>
            <a:ext cx="100584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 State 1</a:t>
            </a:r>
            <a:endParaRPr lang="en-US" sz="750" dirty="0"/>
          </a:p>
        </p:txBody>
      </p:sp>
      <p:sp>
        <p:nvSpPr>
          <p:cNvPr id="63" name="Text 61"/>
          <p:cNvSpPr/>
          <p:nvPr/>
        </p:nvSpPr>
        <p:spPr>
          <a:xfrm>
            <a:off x="8229600" y="3419856"/>
            <a:ext cx="164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→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8394192" y="3328416"/>
            <a:ext cx="1005840" cy="502920"/>
          </a:xfrm>
          <a:prstGeom prst="rect">
            <a:avLst/>
          </a:prstGeom>
          <a:solidFill>
            <a:srgbClr val="1E3A5F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8394192" y="3328416"/>
            <a:ext cx="100584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 State 2</a:t>
            </a:r>
            <a:endParaRPr lang="en-US" sz="750" dirty="0"/>
          </a:p>
        </p:txBody>
      </p:sp>
      <p:sp>
        <p:nvSpPr>
          <p:cNvPr id="66" name="Text 64"/>
          <p:cNvSpPr/>
          <p:nvPr/>
        </p:nvSpPr>
        <p:spPr>
          <a:xfrm>
            <a:off x="9400032" y="3419856"/>
            <a:ext cx="164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→</a:t>
            </a: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9564624" y="3328416"/>
            <a:ext cx="1005840" cy="502920"/>
          </a:xfrm>
          <a:prstGeom prst="rect">
            <a:avLst/>
          </a:prstGeom>
          <a:solidFill>
            <a:srgbClr val="1D4ED8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9564624" y="3328416"/>
            <a:ext cx="100584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 State 3</a:t>
            </a:r>
            <a:endParaRPr lang="en-US" sz="750" dirty="0"/>
          </a:p>
        </p:txBody>
      </p:sp>
      <p:sp>
        <p:nvSpPr>
          <p:cNvPr id="69" name="Text 67"/>
          <p:cNvSpPr/>
          <p:nvPr/>
        </p:nvSpPr>
        <p:spPr>
          <a:xfrm>
            <a:off x="10570464" y="3419856"/>
            <a:ext cx="164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→</a:t>
            </a:r>
            <a:endParaRPr lang="en-US" sz="1000" dirty="0"/>
          </a:p>
        </p:txBody>
      </p:sp>
      <p:sp>
        <p:nvSpPr>
          <p:cNvPr id="70" name="Shape 68"/>
          <p:cNvSpPr/>
          <p:nvPr/>
        </p:nvSpPr>
        <p:spPr>
          <a:xfrm>
            <a:off x="10735056" y="3328416"/>
            <a:ext cx="1005840" cy="502920"/>
          </a:xfrm>
          <a:prstGeom prst="rect">
            <a:avLst/>
          </a:prstGeom>
          <a:solidFill>
            <a:srgbClr val="04785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10735056" y="3328416"/>
            <a:ext cx="100584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…final</a:t>
            </a:r>
            <a:endParaRPr lang="en-US" sz="750" dirty="0"/>
          </a:p>
        </p:txBody>
      </p:sp>
      <p:sp>
        <p:nvSpPr>
          <p:cNvPr id="72" name="Text 70"/>
          <p:cNvSpPr/>
          <p:nvPr/>
        </p:nvSpPr>
        <p:spPr>
          <a:xfrm>
            <a:off x="7086600" y="4279392"/>
            <a:ext cx="4846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OUTPUTS</a:t>
            </a:r>
            <a:endParaRPr lang="en-US" sz="850" dirty="0"/>
          </a:p>
        </p:txBody>
      </p:sp>
      <p:sp>
        <p:nvSpPr>
          <p:cNvPr id="73" name="Shape 71"/>
          <p:cNvSpPr/>
          <p:nvPr/>
        </p:nvSpPr>
        <p:spPr>
          <a:xfrm>
            <a:off x="7086600" y="4544568"/>
            <a:ext cx="1508760" cy="1097280"/>
          </a:xfrm>
          <a:prstGeom prst="rect">
            <a:avLst/>
          </a:prstGeom>
          <a:solidFill>
            <a:srgbClr val="0D1526"/>
          </a:solidFill>
          <a:ln w="19050">
            <a:solidFill>
              <a:srgbClr val="34D399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7086600" y="4572000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{}</a:t>
            </a:r>
            <a:endParaRPr lang="en-US" sz="1400" dirty="0"/>
          </a:p>
        </p:txBody>
      </p:sp>
      <p:sp>
        <p:nvSpPr>
          <p:cNvPr id="75" name="Text 73"/>
          <p:cNvSpPr/>
          <p:nvPr/>
        </p:nvSpPr>
        <p:spPr>
          <a:xfrm>
            <a:off x="7150608" y="491947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File</a:t>
            </a:r>
            <a:endParaRPr lang="en-US" sz="900" dirty="0"/>
          </a:p>
        </p:txBody>
      </p:sp>
      <p:sp>
        <p:nvSpPr>
          <p:cNvPr id="76" name="Text 74"/>
          <p:cNvSpPr/>
          <p:nvPr/>
        </p:nvSpPr>
        <p:spPr>
          <a:xfrm>
            <a:off x="7150608" y="5138928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Delta-merged state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page</a:t>
            </a:r>
            <a:endParaRPr lang="en-US" sz="750" dirty="0"/>
          </a:p>
        </p:txBody>
      </p:sp>
      <p:sp>
        <p:nvSpPr>
          <p:cNvPr id="77" name="Shape 75"/>
          <p:cNvSpPr/>
          <p:nvPr/>
        </p:nvSpPr>
        <p:spPr>
          <a:xfrm>
            <a:off x="8714232" y="4544568"/>
            <a:ext cx="1508760" cy="1097280"/>
          </a:xfrm>
          <a:prstGeom prst="rect">
            <a:avLst/>
          </a:prstGeom>
          <a:solidFill>
            <a:srgbClr val="0D1526"/>
          </a:solidFill>
          <a:ln w="19050">
            <a:solidFill>
              <a:srgbClr val="FBBF24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8714232" y="4572000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⊞</a:t>
            </a:r>
            <a:endParaRPr lang="en-US" sz="1400" dirty="0"/>
          </a:p>
        </p:txBody>
      </p:sp>
      <p:sp>
        <p:nvSpPr>
          <p:cNvPr id="79" name="Text 77"/>
          <p:cNvSpPr/>
          <p:nvPr/>
        </p:nvSpPr>
        <p:spPr>
          <a:xfrm>
            <a:off x="8778240" y="491947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File</a:t>
            </a:r>
            <a:endParaRPr lang="en-US" sz="900" dirty="0"/>
          </a:p>
        </p:txBody>
      </p:sp>
      <p:sp>
        <p:nvSpPr>
          <p:cNvPr id="80" name="Text 78"/>
          <p:cNvSpPr/>
          <p:nvPr/>
        </p:nvSpPr>
        <p:spPr>
          <a:xfrm>
            <a:off x="8778240" y="5138928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Updated structured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export</a:t>
            </a:r>
            <a:endParaRPr lang="en-US" sz="750" dirty="0"/>
          </a:p>
        </p:txBody>
      </p:sp>
      <p:sp>
        <p:nvSpPr>
          <p:cNvPr id="81" name="Shape 79"/>
          <p:cNvSpPr/>
          <p:nvPr/>
        </p:nvSpPr>
        <p:spPr>
          <a:xfrm>
            <a:off x="10341864" y="4544568"/>
            <a:ext cx="1508760" cy="1097280"/>
          </a:xfrm>
          <a:prstGeom prst="rect">
            <a:avLst/>
          </a:prstGeom>
          <a:solidFill>
            <a:srgbClr val="0D1526"/>
          </a:solidFill>
          <a:ln w="19050">
            <a:solidFill>
              <a:srgbClr val="38BDF8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10341864" y="4572000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&lt;/&gt;</a:t>
            </a:r>
            <a:endParaRPr lang="en-US" sz="1400" dirty="0"/>
          </a:p>
        </p:txBody>
      </p:sp>
      <p:sp>
        <p:nvSpPr>
          <p:cNvPr id="83" name="Text 81"/>
          <p:cNvSpPr/>
          <p:nvPr/>
        </p:nvSpPr>
        <p:spPr>
          <a:xfrm>
            <a:off x="10405872" y="491947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File</a:t>
            </a:r>
            <a:endParaRPr lang="en-US" sz="900" dirty="0"/>
          </a:p>
        </p:txBody>
      </p:sp>
      <p:sp>
        <p:nvSpPr>
          <p:cNvPr id="84" name="Text 82"/>
          <p:cNvSpPr/>
          <p:nvPr/>
        </p:nvSpPr>
        <p:spPr>
          <a:xfrm>
            <a:off x="10405872" y="5138928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Latest full-page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snapshot saved</a:t>
            </a:r>
            <a:endParaRPr lang="en-US" sz="750" dirty="0"/>
          </a:p>
        </p:txBody>
      </p:sp>
      <p:sp>
        <p:nvSpPr>
          <p:cNvPr id="85" name="Shape 83"/>
          <p:cNvSpPr/>
          <p:nvPr/>
        </p:nvSpPr>
        <p:spPr>
          <a:xfrm>
            <a:off x="7086600" y="5715000"/>
            <a:ext cx="4846320" cy="822960"/>
          </a:xfrm>
          <a:prstGeom prst="rect">
            <a:avLst/>
          </a:prstGeom>
          <a:solidFill>
            <a:srgbClr val="1A1020"/>
          </a:solidFill>
          <a:ln w="12700">
            <a:solidFill>
              <a:srgbClr val="BE185D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7086600" y="5715000"/>
            <a:ext cx="54864" cy="822960"/>
          </a:xfrm>
          <a:prstGeom prst="rect">
            <a:avLst/>
          </a:prstGeom>
          <a:solidFill>
            <a:srgbClr val="BE185D"/>
          </a:solidFill>
          <a:ln w="12700">
            <a:solidFill>
              <a:srgbClr val="BE185D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7223760" y="5751576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🆕  New Page Path</a:t>
            </a:r>
            <a:endParaRPr lang="en-US" sz="900" dirty="0"/>
          </a:p>
        </p:txBody>
      </p:sp>
      <p:sp>
        <p:nvSpPr>
          <p:cNvPr id="88" name="Text 86"/>
          <p:cNvSpPr/>
          <p:nvPr/>
        </p:nvSpPr>
        <p:spPr>
          <a:xfrm>
            <a:off x="7223760" y="5998464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previously captured → auto-identified as new entry → title auto-populated → new HTML file created &amp; tracked from that point.</a:t>
            </a:r>
            <a:endParaRPr lang="en-US" sz="850" dirty="0"/>
          </a:p>
        </p:txBody>
      </p:sp>
      <p:sp>
        <p:nvSpPr>
          <p:cNvPr id="89" name="Shape 87"/>
          <p:cNvSpPr/>
          <p:nvPr/>
        </p:nvSpPr>
        <p:spPr>
          <a:xfrm>
            <a:off x="0" y="6675120"/>
            <a:ext cx="12161520" cy="18288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457200" y="6492240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Capture + DNA  ·  Unified Workflow  ·  Auto Delta Tracking  ·  JSON + CSV Output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875</Words>
  <Application>Microsoft Office PowerPoint</Application>
  <PresentationFormat>Widescreen</PresentationFormat>
  <Paragraphs>198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Sachin Bhagwan(E)</cp:lastModifiedBy>
  <cp:revision>2</cp:revision>
  <dcterms:created xsi:type="dcterms:W3CDTF">2026-04-14T14:01:16Z</dcterms:created>
  <dcterms:modified xsi:type="dcterms:W3CDTF">2026-04-14T14:07:10Z</dcterms:modified>
</cp:coreProperties>
</file>